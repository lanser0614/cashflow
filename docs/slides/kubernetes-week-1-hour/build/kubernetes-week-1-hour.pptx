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512064"/>
            <a:ext cx="2029968" cy="292608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589788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Knowledge Sharing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1005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6656" y="122529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Зачем Kubernetes?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76656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Расширенная сессия на 60 минут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" y="241401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 версия рассчитана на полноценный knowledge-sharing slot: с объяснением big picture, терминов, архитектурных ролей кластера и демонстрацией через kubectl.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" y="3584448"/>
            <a:ext cx="513892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730752"/>
            <a:ext cx="4773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концу часа участник сможет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3931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19" dirty="0">
                <a:solidFill>
                  <a:srgbClr val="1E293B"/>
                </a:solidFill>
              </a:rPr>
              <a:t>объяснить, какую проблему Kubernetes решает для команды</a:t>
            </a:r>
            <a:endParaRPr lang="en-US" sz="1219" dirty="0"/>
          </a:p>
          <a:p>
            <a:pPr marL="190500" indent="-190500">
              <a:buSzPct val="100000"/>
              <a:buChar char="•"/>
            </a:pPr>
            <a:r>
              <a:rPr lang="en-US" sz="1219" dirty="0">
                <a:solidFill>
                  <a:srgbClr val="1E293B"/>
                </a:solidFill>
              </a:rPr>
              <a:t>нарисовать на доске cluster, node и control plane</a:t>
            </a:r>
            <a:endParaRPr lang="en-US" sz="1219" dirty="0"/>
          </a:p>
          <a:p>
            <a:pPr marL="190500" indent="-190500">
              <a:buSzPct val="100000"/>
              <a:buChar char="•"/>
            </a:pPr>
            <a:r>
              <a:rPr lang="en-US" sz="1219" dirty="0">
                <a:solidFill>
                  <a:srgbClr val="1E293B"/>
                </a:solidFill>
              </a:rPr>
              <a:t>показать базовый обход кластера через `kubectl`</a:t>
            </a:r>
            <a:endParaRPr lang="en-US" sz="1219" dirty="0"/>
          </a:p>
        </p:txBody>
      </p:sp>
      <p:sp>
        <p:nvSpPr>
          <p:cNvPr id="12" name="Shape 10"/>
          <p:cNvSpPr/>
          <p:nvPr/>
        </p:nvSpPr>
        <p:spPr>
          <a:xfrm>
            <a:off x="6181344" y="768096"/>
            <a:ext cx="5285232" cy="4992624"/>
          </a:xfrm>
          <a:prstGeom prst="roundRect">
            <a:avLst>
              <a:gd name="adj" fmla="val 1465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914400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занятия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19088" y="1133856"/>
            <a:ext cx="2267712" cy="859536"/>
          </a:xfrm>
          <a:prstGeom prst="roundRect">
            <a:avLst>
              <a:gd name="adj" fmla="val 638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126187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 мин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47104" y="143560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47104" y="16184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оркестрация вообще стала нужна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24544" y="1133856"/>
            <a:ext cx="2267712" cy="859536"/>
          </a:xfrm>
          <a:prstGeom prst="roundRect">
            <a:avLst>
              <a:gd name="adj" fmla="val 6383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126187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10-25 мин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52560" y="143560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52560" y="16184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чего состоит кластер и кто принимает решения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19088" y="2231136"/>
            <a:ext cx="2267712" cy="859536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23591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25-40 мин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47104" y="25328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+ Node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47104" y="2715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разбираем роли control plane и worker node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24544" y="2231136"/>
            <a:ext cx="2267712" cy="859536"/>
          </a:xfrm>
          <a:prstGeom prst="roundRect">
            <a:avLst>
              <a:gd name="adj" fmla="val 638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23591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40-52 мин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52560" y="25328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52560" y="2715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kubectl, nodes, pods, describe, events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71816" y="3328416"/>
            <a:ext cx="2267712" cy="859536"/>
          </a:xfrm>
          <a:prstGeom prst="roundRect">
            <a:avLst>
              <a:gd name="adj" fmla="val 6383"/>
            </a:avLst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9832" y="345643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52-60 мин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99832" y="36301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99832" y="3813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takeaways, вопросы, homework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— расширенная сессия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Чего мы хотим добиться за этот час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выравниваем ожидания: что участники должны понять, а что пока сознательно не разбираем.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828800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93392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267712"/>
            <a:ext cx="3163824" cy="1077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Kubernetes нужен не из-за моды, а из-за реальных operational-проблем: scaling, self-healing, repeatable deploys и прозрачность инфраструктуры.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993392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Научиться объяснять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7136" y="2267712"/>
            <a:ext cx="3163824" cy="1077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cluster, node, control plane, desired state и почему разработчику полезно знать эту модель, даже если платформой занимается другая команда.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28432" y="1828800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993392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Уметь показать руками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3024" y="2267712"/>
            <a:ext cx="3163824" cy="1260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локально посмотреть состояние кластера, список нод, список подов и события, чтобы термины сразу связывались с реальным CLI и реальным окружением.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" y="4261104"/>
            <a:ext cx="108447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4407408"/>
            <a:ext cx="10479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входит в первую неделю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4608576"/>
            <a:ext cx="10332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не идем глубоко в YAML и workload-объекты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не обсуждаем production-grade networking и security hardening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не пытаемся заменить весь курс одной вводной лекцией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Поминутный план на 60 минут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 структура помогает держать темп и не утонуть в деталях раньше времени.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" y="1792224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4767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00-05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01952" y="19110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Разогрев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42816" y="1901952"/>
            <a:ext cx="6912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собираем контекст команды: где уже болит деплой и масштабирование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49808" y="2414016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569464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05-15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01952" y="25328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Kubernetes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42816" y="2523744"/>
            <a:ext cx="6912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разбираем ограничения single host, docker-compose и ручных операций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49808" y="3035808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19125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15-25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01952" y="3154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42816" y="3145536"/>
            <a:ext cx="6912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рисуем control plane, worker nodes и desired state loop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49808" y="3657600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813048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25-35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01952" y="377647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cluster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42816" y="3767328"/>
            <a:ext cx="6912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понятие кластера, API, scheduler, controllers, shared state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49808" y="4279392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43484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35-42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01952" y="439826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node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42816" y="4389120"/>
            <a:ext cx="6912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OS, kubelet, kube-proxy, container runtime, Pods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49808" y="4901184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505663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42-52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01952" y="502005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Живое демо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42816" y="5010912"/>
            <a:ext cx="6912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nodes, get pods -A, describe node, события и namespace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49808" y="5522976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5678424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52-60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01952" y="564184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и homework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42816" y="5632704"/>
            <a:ext cx="6912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фиксируем takeaways и ожидания к следующей неделе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KUBERNETES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С какой проблемой Kubernetes приходит в команду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Говорим не про технологию ради технологии, а про pain points, которые повторяются почти в любой продуктовой команде.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792224"/>
            <a:ext cx="464515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38528"/>
            <a:ext cx="4279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Типичные боли без оркестратора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139696"/>
            <a:ext cx="4169664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97" dirty="0">
                <a:solidFill>
                  <a:srgbClr val="1E293B"/>
                </a:solidFill>
              </a:rPr>
              <a:t>сервис живет на конкретной машине, и это знание легко теряется</a:t>
            </a:r>
            <a:endParaRPr lang="en-US" sz="1397" dirty="0"/>
          </a:p>
          <a:p>
            <a:pPr marL="190500" indent="-190500">
              <a:buSzPct val="100000"/>
              <a:buChar char="•"/>
            </a:pPr>
            <a:r>
              <a:rPr lang="en-US" sz="1397" dirty="0">
                <a:solidFill>
                  <a:srgbClr val="1E293B"/>
                </a:solidFill>
              </a:rPr>
              <a:t>падение процесса лечится руками или самописными костылями</a:t>
            </a:r>
            <a:endParaRPr lang="en-US" sz="1397" dirty="0"/>
          </a:p>
          <a:p>
            <a:pPr marL="190500" indent="-190500">
              <a:buSzPct val="100000"/>
              <a:buChar char="•"/>
            </a:pPr>
            <a:r>
              <a:rPr lang="en-US" sz="1397" dirty="0">
                <a:solidFill>
                  <a:srgbClr val="1E293B"/>
                </a:solidFill>
              </a:rPr>
              <a:t>масштабирование означает ручной запуск новых экземпляров</a:t>
            </a:r>
            <a:endParaRPr lang="en-US" sz="1397" dirty="0"/>
          </a:p>
          <a:p>
            <a:pPr marL="190500" indent="-190500">
              <a:buSzPct val="100000"/>
              <a:buChar char="•"/>
            </a:pPr>
            <a:r>
              <a:rPr lang="en-US" sz="1397" dirty="0">
                <a:solidFill>
                  <a:srgbClr val="1E293B"/>
                </a:solidFill>
              </a:rPr>
              <a:t>rollout каждый раз придумывается заново под конкретный проект</a:t>
            </a:r>
            <a:endParaRPr lang="en-US" sz="1397" dirty="0"/>
          </a:p>
          <a:p>
            <a:pPr marL="190500" indent="-190500">
              <a:buSzPct val="100000"/>
              <a:buChar char="•"/>
            </a:pPr>
            <a:r>
              <a:rPr lang="en-US" sz="1397" dirty="0">
                <a:solidFill>
                  <a:srgbClr val="1E293B"/>
                </a:solidFill>
              </a:rPr>
              <a:t>конфиг, секреты и routing живут в разных местах и без единой модели</a:t>
            </a:r>
            <a:endParaRPr lang="en-US" sz="1397" dirty="0"/>
          </a:p>
        </p:txBody>
      </p:sp>
      <p:pic>
        <p:nvPicPr>
          <p:cNvPr id="9" name="Image 0" descr="/Users/bellissimopizza/Desktop/CashFlow/docs/slides/kubernetes-week-1-hour/assets/pain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391" y="1828800"/>
            <a:ext cx="5593314" cy="25968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559552" y="4590288"/>
            <a:ext cx="5650992" cy="877824"/>
          </a:xfrm>
          <a:prstGeom prst="roundRect">
            <a:avLst>
              <a:gd name="adj" fmla="val 8333"/>
            </a:avLst>
          </a:prstGeom>
          <a:solidFill>
            <a:srgbClr val="FFE4E6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2432" y="4736592"/>
            <a:ext cx="5285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Короткий тезис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97296" y="4901184"/>
            <a:ext cx="5175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стандартизует deploy и эксплуатацию: ты описываешь желаемое состояние, а платформа стремится его поддерживать.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Kubernetes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Как выглядит Kubernetes сверху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цель не выучить все компоненты, а понять разделение ролей: кто принимает решения и кто исполняет workload.</a:t>
            </a:r>
            <a:endParaRPr lang="en-US" sz="1100" dirty="0"/>
          </a:p>
        </p:txBody>
      </p:sp>
      <p:pic>
        <p:nvPicPr>
          <p:cNvPr id="6" name="Image 0" descr="/Users/bellissimopizza/Desktop/CashFlow/docs/slides/kubernetes-week-1-hour/assets/big-pi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4619"/>
            <a:ext cx="5815584" cy="30116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94576" y="1828800"/>
            <a:ext cx="4608576" cy="3419856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77456" y="1975104"/>
            <a:ext cx="4242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0" y="2176272"/>
            <a:ext cx="4133088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97" dirty="0">
                <a:solidFill>
                  <a:srgbClr val="1E293B"/>
                </a:solidFill>
              </a:rPr>
              <a:t>control plane хранит и интерпретирует желаемое состояние</a:t>
            </a:r>
            <a:endParaRPr lang="en-US" sz="1397" dirty="0"/>
          </a:p>
          <a:p>
            <a:pPr marL="190500" indent="-190500">
              <a:buSzPct val="100000"/>
              <a:buChar char="•"/>
            </a:pPr>
            <a:r>
              <a:rPr lang="en-US" sz="1397" dirty="0">
                <a:solidFill>
                  <a:srgbClr val="1E293B"/>
                </a:solidFill>
              </a:rPr>
              <a:t>scheduler решает, на какую ноду поставить Pod</a:t>
            </a:r>
            <a:endParaRPr lang="en-US" sz="1397" dirty="0"/>
          </a:p>
          <a:p>
            <a:pPr marL="190500" indent="-190500">
              <a:buSzPct val="100000"/>
              <a:buChar char="•"/>
            </a:pPr>
            <a:r>
              <a:rPr lang="en-US" sz="1397" dirty="0">
                <a:solidFill>
                  <a:srgbClr val="1E293B"/>
                </a:solidFill>
              </a:rPr>
              <a:t>controller loops сверяют факт и intent</a:t>
            </a:r>
            <a:endParaRPr lang="en-US" sz="1397" dirty="0"/>
          </a:p>
          <a:p>
            <a:pPr marL="190500" indent="-190500">
              <a:buSzPct val="100000"/>
              <a:buChar char="•"/>
            </a:pPr>
            <a:r>
              <a:rPr lang="en-US" sz="1397" dirty="0">
                <a:solidFill>
                  <a:srgbClr val="1E293B"/>
                </a:solidFill>
              </a:rPr>
              <a:t>worker nodes запускают контейнеры и отчитываются о состоянии</a:t>
            </a:r>
            <a:endParaRPr lang="en-US" sz="1397" dirty="0"/>
          </a:p>
          <a:p>
            <a:pPr marL="190500" indent="-190500">
              <a:buSzPct val="100000"/>
              <a:buChar char="•"/>
            </a:pPr>
            <a:r>
              <a:rPr lang="en-US" sz="1397" dirty="0">
                <a:solidFill>
                  <a:srgbClr val="1E293B"/>
                </a:solidFill>
              </a:rPr>
              <a:t>разработчик чаще всего взаимодействует с API, а не с машинами напрямую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ТЕМЫ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Словарь, который должен закрепиться после первой недели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эти термины стали интуитивными, то дальше Pod, Deployment и Service лягут намного проще.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93392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67712"/>
            <a:ext cx="3127248" cy="71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описываем желаемый результат, а не последовательность ручных шагов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53712" y="1828800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993392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18304" y="2267712"/>
            <a:ext cx="3127248" cy="71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контроллеры непрерывно выравнивают факт с описанием в 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57616" y="1828800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1993392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22208" y="2267712"/>
            <a:ext cx="3127248" cy="71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 узлов и control plane, работающих как единая платформа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9808" y="340156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66160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840480"/>
            <a:ext cx="3127248" cy="71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отдельная машина, на которой реально запускаются Pods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53712" y="340156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3566160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API-centric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3840480"/>
            <a:ext cx="3127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взаимодействуем через kubectl и API Server, а не логинимся по SSH везде подряд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57616" y="340156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22208" y="3566160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22208" y="3840480"/>
            <a:ext cx="3127248" cy="71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замечает отклонения и пытается вернуть рабочее состояние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темы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КЛАСТЕР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Кластер как единая точка исполнения и управления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 донести, что кластер это не просто “несколько серверов”, а согласованная система с общим control plane и API.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810512"/>
            <a:ext cx="3840480" cy="3529584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139696"/>
            <a:ext cx="34015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 Kubernetes это набор машин, объединенных общим control plane. Для пользователя он выглядит как единая вычислительная платформа, в которую можно отправить описание приложения и ожидать, что платформа сама разместит, перезапустит и отследит workload.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896112" y="3584448"/>
            <a:ext cx="32552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75" dirty="0">
                <a:solidFill>
                  <a:srgbClr val="1E293B"/>
                </a:solidFill>
              </a:rPr>
              <a:t>есть единый API</a:t>
            </a:r>
            <a:endParaRPr lang="en-US" sz="1275" dirty="0"/>
          </a:p>
          <a:p>
            <a:pPr marL="190500" indent="-190500">
              <a:buSzPct val="100000"/>
              <a:buChar char="•"/>
            </a:pPr>
            <a:r>
              <a:rPr lang="en-US" sz="1275" dirty="0">
                <a:solidFill>
                  <a:srgbClr val="1E293B"/>
                </a:solidFill>
              </a:rPr>
              <a:t>есть общая модель состояния</a:t>
            </a:r>
            <a:endParaRPr lang="en-US" sz="1275" dirty="0"/>
          </a:p>
          <a:p>
            <a:pPr marL="190500" indent="-190500">
              <a:buSzPct val="100000"/>
              <a:buChar char="•"/>
            </a:pPr>
            <a:r>
              <a:rPr lang="en-US" sz="1275" dirty="0">
                <a:solidFill>
                  <a:srgbClr val="1E293B"/>
                </a:solidFill>
              </a:rPr>
              <a:t>есть распределение workload по nodes</a:t>
            </a:r>
            <a:endParaRPr lang="en-US" sz="1275" dirty="0"/>
          </a:p>
          <a:p>
            <a:pPr marL="190500" indent="-190500">
              <a:buSzPct val="100000"/>
              <a:buChar char="•"/>
            </a:pPr>
            <a:r>
              <a:rPr lang="en-US" sz="1275" dirty="0">
                <a:solidFill>
                  <a:srgbClr val="1E293B"/>
                </a:solidFill>
              </a:rPr>
              <a:t>есть стандартный способ наблюдать статус</a:t>
            </a:r>
            <a:endParaRPr lang="en-US" sz="1275" dirty="0"/>
          </a:p>
        </p:txBody>
      </p:sp>
      <p:pic>
        <p:nvPicPr>
          <p:cNvPr id="10" name="Image 0" descr="/Users/bellissimopizza/Desktop/CashFlow/docs/slides/kubernetes-week-1-hour/assets/big-pi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2239464"/>
            <a:ext cx="3675888" cy="190358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50224" y="1810512"/>
            <a:ext cx="2852928" cy="3529584"/>
          </a:xfrm>
          <a:prstGeom prst="roundRect">
            <a:avLst>
              <a:gd name="adj" fmla="val 256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33104" y="195681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внутри кластера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51392" y="2157984"/>
            <a:ext cx="24323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97" dirty="0">
                <a:solidFill>
                  <a:srgbClr val="1E293B"/>
                </a:solidFill>
              </a:rPr>
              <a:t>API Server: точка входа</a:t>
            </a:r>
            <a:endParaRPr lang="en-US" sz="1297" dirty="0"/>
          </a:p>
          <a:p>
            <a:pPr marL="190500" indent="-190500">
              <a:buSzPct val="100000"/>
              <a:buChar char="•"/>
            </a:pPr>
            <a:r>
              <a:rPr lang="en-US" sz="1297" dirty="0">
                <a:solidFill>
                  <a:srgbClr val="1E293B"/>
                </a:solidFill>
              </a:rPr>
              <a:t>Scheduler: выбирает node</a:t>
            </a:r>
            <a:endParaRPr lang="en-US" sz="1297" dirty="0"/>
          </a:p>
          <a:p>
            <a:pPr marL="190500" indent="-190500">
              <a:buSzPct val="100000"/>
              <a:buChar char="•"/>
            </a:pPr>
            <a:r>
              <a:rPr lang="en-US" sz="1297" dirty="0">
                <a:solidFill>
                  <a:srgbClr val="1E293B"/>
                </a:solidFill>
              </a:rPr>
              <a:t>Controller Manager: следит за desired state</a:t>
            </a:r>
            <a:endParaRPr lang="en-US" sz="1297" dirty="0"/>
          </a:p>
          <a:p>
            <a:pPr marL="190500" indent="-190500">
              <a:buSzPct val="100000"/>
              <a:buChar char="•"/>
            </a:pPr>
            <a:r>
              <a:rPr lang="en-US" sz="1297" dirty="0">
                <a:solidFill>
                  <a:srgbClr val="1E293B"/>
                </a:solidFill>
              </a:rPr>
              <a:t>etcd: хранит состояние кластера</a:t>
            </a:r>
            <a:endParaRPr lang="en-US" sz="1297" dirty="0"/>
          </a:p>
        </p:txBody>
      </p:sp>
      <p:sp>
        <p:nvSpPr>
          <p:cNvPr id="14" name="Text 11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cluster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НОДА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Нода это место, где Kubernetes встречается с реальной машиной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Здесь полезно переключить фокус с абстракции кластера на конкретный хост и его обязанности.</a:t>
            </a:r>
            <a:endParaRPr lang="en-US" sz="1100" dirty="0"/>
          </a:p>
        </p:txBody>
      </p:sp>
      <p:pic>
        <p:nvPicPr>
          <p:cNvPr id="6" name="Image 0" descr="/Users/bellissimopizza/Desktop/CashFlow/docs/slides/kubernetes-week-1-hour/assets/worker-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4255"/>
            <a:ext cx="4919472" cy="26489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61888" y="1828800"/>
            <a:ext cx="5522976" cy="1389888"/>
          </a:xfrm>
          <a:prstGeom prst="roundRect">
            <a:avLst>
              <a:gd name="adj" fmla="val 5263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4768" y="1975104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обязательно есть на worker node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81344" y="2157984"/>
            <a:ext cx="5065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операционная система с сетевым стеком и изоляцией процессов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kubelet, который получает задания от control plane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container runtime, который реально запускает контейнеры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сетевые компоненты, чтобы Pod мог общаться внутри кластера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961888" y="34564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4768" y="3602736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объяснить разработчику простыми словами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81344" y="3803904"/>
            <a:ext cx="5084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это “рабочая лошадка” кластера. На ней живут Pods, туда scheduler отправляет workload, а kubelet следит, чтобы эти Pods действительно были подняты и оставались в нужном состоянии.</a:t>
            </a:r>
            <a:endParaRPr lang="en-US" sz="1340" dirty="0"/>
          </a:p>
        </p:txBody>
      </p:sp>
      <p:sp>
        <p:nvSpPr>
          <p:cNvPr id="13" name="Shape 10"/>
          <p:cNvSpPr/>
          <p:nvPr/>
        </p:nvSpPr>
        <p:spPr>
          <a:xfrm>
            <a:off x="6181344" y="4663440"/>
            <a:ext cx="1517904" cy="292608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54496" y="474116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путать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827264" y="468172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не равна Pod и не равна cluster. Это только один из узлов, на которых работает часть общей нагрузки.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нода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СИСТЕМА ДУМАЕТ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Desired state и reconciliation loop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центральная идея Kubernetes. Если она понятна, многие другие объекты автоматически становятся логичнее.</a:t>
            </a:r>
            <a:endParaRPr lang="en-US" sz="1100" dirty="0"/>
          </a:p>
        </p:txBody>
      </p:sp>
      <p:pic>
        <p:nvPicPr>
          <p:cNvPr id="6" name="Image 0" descr="/Users/bellissimopizza/Desktop/CashFlow/docs/slides/kubernetes-week-1-hour/assets/control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515" y="1847088"/>
            <a:ext cx="6005114" cy="23591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52944" y="1828800"/>
            <a:ext cx="3950208" cy="2377440"/>
          </a:xfrm>
          <a:prstGeom prst="roundRect">
            <a:avLst>
              <a:gd name="adj" fmla="val 307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35824" y="197510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проговорить голосом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176272"/>
            <a:ext cx="34930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76" dirty="0">
                <a:solidFill>
                  <a:srgbClr val="1E293B"/>
                </a:solidFill>
              </a:rPr>
              <a:t>Kubernetes не выполняет deploy как одноразовый скрипт</a:t>
            </a:r>
            <a:endParaRPr lang="en-US" sz="1176" dirty="0"/>
          </a:p>
          <a:p>
            <a:pPr marL="190500" indent="-190500">
              <a:buSzPct val="100000"/>
              <a:buChar char="•"/>
            </a:pPr>
            <a:r>
              <a:rPr lang="en-US" sz="1176" dirty="0">
                <a:solidFill>
                  <a:srgbClr val="1E293B"/>
                </a:solidFill>
              </a:rPr>
              <a:t>система постоянно сверяет “что должно быть” и “что есть сейчас”</a:t>
            </a:r>
            <a:endParaRPr lang="en-US" sz="1176" dirty="0"/>
          </a:p>
          <a:p>
            <a:pPr marL="190500" indent="-190500">
              <a:buSzPct val="100000"/>
              <a:buChar char="•"/>
            </a:pPr>
            <a:r>
              <a:rPr lang="en-US" sz="1176" dirty="0">
                <a:solidFill>
                  <a:srgbClr val="1E293B"/>
                </a:solidFill>
              </a:rPr>
              <a:t>если Pod умер или node пропала, платформа пытается восстановиться</a:t>
            </a:r>
            <a:endParaRPr lang="en-US" sz="1176" dirty="0"/>
          </a:p>
          <a:p>
            <a:pPr marL="190500" indent="-190500">
              <a:buSzPct val="100000"/>
              <a:buChar char="•"/>
            </a:pPr>
            <a:r>
              <a:rPr lang="en-US" sz="1176" dirty="0">
                <a:solidFill>
                  <a:srgbClr val="1E293B"/>
                </a:solidFill>
              </a:rPr>
              <a:t>именно поэтому важен declarative подход, а не ручные команды на серверах</a:t>
            </a:r>
            <a:endParaRPr lang="en-US" sz="1176" dirty="0"/>
          </a:p>
        </p:txBody>
      </p:sp>
      <p:sp>
        <p:nvSpPr>
          <p:cNvPr id="10" name="Shape 7"/>
          <p:cNvSpPr/>
          <p:nvPr/>
        </p:nvSpPr>
        <p:spPr>
          <a:xfrm>
            <a:off x="731520" y="4590288"/>
            <a:ext cx="10771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736592"/>
            <a:ext cx="10405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фраза для запоминания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50976" y="490118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 описываешь intent, Kubernetes непрерывно пытается сделать реальность похожей на этот intent.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state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ЖИВОЕ ДЕМО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Что показывать руками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 должно связывать термины со screen output. Лучше показать мало, но с четкими комментариями по каждому шагу.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810512"/>
            <a:ext cx="4956048" cy="3621024"/>
          </a:xfrm>
          <a:prstGeom prst="roundRect">
            <a:avLst>
              <a:gd name="adj" fmla="val 202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4590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демо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157984"/>
            <a:ext cx="449884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57" dirty="0">
                <a:solidFill>
                  <a:srgbClr val="1E293B"/>
                </a:solidFill>
              </a:rPr>
              <a:t>проверить текущий контекст и показать, что мы работаем с кластером</a:t>
            </a:r>
            <a:endParaRPr lang="en-US" sz="1357" dirty="0"/>
          </a:p>
          <a:p>
            <a:pPr marL="190500" indent="-190500">
              <a:buSzPct val="100000"/>
              <a:buChar char="•"/>
            </a:pPr>
            <a:r>
              <a:rPr lang="en-US" sz="1357" dirty="0">
                <a:solidFill>
                  <a:srgbClr val="1E293B"/>
                </a:solidFill>
              </a:rPr>
              <a:t>посмотреть список нод и роли: `kubectl get nodes -o wide`</a:t>
            </a:r>
            <a:endParaRPr lang="en-US" sz="1357" dirty="0"/>
          </a:p>
          <a:p>
            <a:pPr marL="190500" indent="-190500">
              <a:buSzPct val="100000"/>
              <a:buChar char="•"/>
            </a:pPr>
            <a:r>
              <a:rPr lang="en-US" sz="1357" dirty="0">
                <a:solidFill>
                  <a:srgbClr val="1E293B"/>
                </a:solidFill>
              </a:rPr>
              <a:t>посмотреть системные Pods: `kubectl get pods -A`</a:t>
            </a:r>
            <a:endParaRPr lang="en-US" sz="1357" dirty="0"/>
          </a:p>
          <a:p>
            <a:pPr marL="190500" indent="-190500">
              <a:buSzPct val="100000"/>
              <a:buChar char="•"/>
            </a:pPr>
            <a:r>
              <a:rPr lang="en-US" sz="1357" dirty="0">
                <a:solidFill>
                  <a:srgbClr val="1E293B"/>
                </a:solidFill>
              </a:rPr>
              <a:t>разобрать одну ноду через `kubectl describe node &lt;name&gt;`</a:t>
            </a:r>
            <a:endParaRPr lang="en-US" sz="1357" dirty="0"/>
          </a:p>
          <a:p>
            <a:pPr marL="190500" indent="-190500">
              <a:buSzPct val="100000"/>
              <a:buChar char="•"/>
            </a:pPr>
            <a:r>
              <a:rPr lang="en-US" sz="1357" dirty="0">
                <a:solidFill>
                  <a:srgbClr val="1E293B"/>
                </a:solidFill>
              </a:rPr>
              <a:t>обратить внимание на capacity, allocatable, conditions и events</a:t>
            </a:r>
            <a:endParaRPr lang="en-US" sz="1357" dirty="0"/>
          </a:p>
        </p:txBody>
      </p:sp>
      <p:sp>
        <p:nvSpPr>
          <p:cNvPr id="9" name="Shape 7"/>
          <p:cNvSpPr/>
          <p:nvPr/>
        </p:nvSpPr>
        <p:spPr>
          <a:xfrm>
            <a:off x="5907024" y="1810512"/>
            <a:ext cx="5577840" cy="3621024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9904" y="1956816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Реплики команд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63056" y="2212848"/>
            <a:ext cx="50657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kubectl config current-context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kubectl get nodes -o wide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kubectl get pods -A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kubectl describe node worker-1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kubectl get events -A --sort-by=.lastTimestamp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07024" y="4718304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9904" y="486460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что смотреть вместе с аудиторией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4768" y="5047488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просто листай output. Каждый экран должен отвечать на вопрос: где виден cluster, где видна node, кто о чем отчитывается.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Живое демо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Как закрепить материал после занятия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Домашка должна быть выполнимой за 30-40 минут и готовить почву к теме Pod / Deployment / Service.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10512"/>
            <a:ext cx="3493008" cy="2139696"/>
          </a:xfrm>
          <a:prstGeom prst="roundRect">
            <a:avLst>
              <a:gd name="adj" fmla="val 341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75104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249424"/>
            <a:ext cx="3163824" cy="895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Поднять локальный кластер через kind или minikube и сохранить скриншот вывода `kubectl get nodes -o wide`.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810512"/>
            <a:ext cx="3493008" cy="2139696"/>
          </a:xfrm>
          <a:prstGeom prst="roundRect">
            <a:avLst>
              <a:gd name="adj" fmla="val 3419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975104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Понимание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7136" y="2249424"/>
            <a:ext cx="3163824" cy="895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 письменно ответить: чем cluster отличается от node и почему разработчику полезно знать оба термина.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73568" y="1810512"/>
            <a:ext cx="3493008" cy="2139696"/>
          </a:xfrm>
          <a:prstGeom prst="roundRect">
            <a:avLst>
              <a:gd name="adj" fmla="val 3419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75104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к неделе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2249424"/>
            <a:ext cx="3163824" cy="895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Прочитать базовую заметку про Pod и подготовить вопрос: почему Pod не равен контейнеру один-к-одному.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261104"/>
            <a:ext cx="1073505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07408"/>
            <a:ext cx="10369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 хорошего результата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0976" y="4608576"/>
            <a:ext cx="10277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участник может на словах объяснить “cluster = платформа целиком, node = отдельная машина внутри нее” и показать хотя бы один локальный кластер, вводная неделя сработала.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Пять мыслей, которые должны остаться после занятия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Закрываем первую неделю так, чтобы у аудитории осталась опорная карта, а не набор терминов.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0972800" cy="351129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7510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32688" y="213969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219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44752" y="216712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нужен для управления распределенной операционной сложностью, а не только для запуска контейнеров.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932688" y="268833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7063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44752" y="271576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идея платформы: desired state + постоянный reconciliation loop.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932688" y="323697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31927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44752" y="32644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это единая система управления и исполнения, а node это одна конкретная машина внутри нее.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932688" y="378561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8679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44752" y="381304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принимает решения, worker nodes исполняют workload.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932688" y="433425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4165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44752" y="436168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неделя логично продолжает эту модель через Pod, Deployment и Service.</a:t>
            </a:r>
            <a:endParaRPr lang="en-US" sz="1330" dirty="0"/>
          </a:p>
        </p:txBody>
      </p:sp>
      <p:sp>
        <p:nvSpPr>
          <p:cNvPr id="23" name="Shape 21"/>
          <p:cNvSpPr/>
          <p:nvPr/>
        </p:nvSpPr>
        <p:spPr>
          <a:xfrm>
            <a:off x="749808" y="5632704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710428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Pod / Deployment / Service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64373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CashFlow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Неделя 1 — Зачем Kubernetes? Расширенная сессия</dc:title>
  <dc:subject>Kubernetes Week 1</dc:subject>
  <dc:creator>OpenAI Codex</dc:creator>
  <cp:lastModifiedBy>OpenAI Codex</cp:lastModifiedBy>
  <cp:revision>1</cp:revision>
  <dcterms:created xsi:type="dcterms:W3CDTF">2026-03-20T11:30:13Z</dcterms:created>
  <dcterms:modified xsi:type="dcterms:W3CDTF">2026-03-20T11:30:13Z</dcterms:modified>
</cp:coreProperties>
</file>