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otion.so/1-Kubernetes-322f94e077a080598a0bf8ae54d9b4b6?pvs=2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566928"/>
            <a:ext cx="1755648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58368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Knowledge Sharing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6656" y="104241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94" b="1" dirty="0">
                <a:solidFill>
                  <a:srgbClr val="0F172A"/>
                </a:solidFill>
              </a:rPr>
              <a:t>Kubernetes Knowledge Sharing</a:t>
            </a:r>
            <a:endParaRPr lang="en-US" sz="2494" dirty="0"/>
          </a:p>
        </p:txBody>
      </p:sp>
      <p:sp>
        <p:nvSpPr>
          <p:cNvPr id="6" name="Text 4"/>
          <p:cNvSpPr/>
          <p:nvPr/>
        </p:nvSpPr>
        <p:spPr>
          <a:xfrm>
            <a:off x="676656" y="1773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1: Основы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" y="228600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недели, чтобы собрать правильную mental model: от big picture до ingress, routing и готовности к стековым трекам фазы 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3429000"/>
            <a:ext cx="5303520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3575304"/>
            <a:ext cx="4901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будет в фазе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3813048"/>
            <a:ext cx="4791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Почему Kubernetes вообще нужен команде, а не только платформенной группе.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Базовые объекты для деплоя, сетевой доступности и конфигурации.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Практика на локальном кластере и переход к специализации по стеку.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5352" y="877824"/>
            <a:ext cx="5248656" cy="5376672"/>
          </a:xfrm>
          <a:prstGeom prst="roundRect">
            <a:avLst>
              <a:gd name="adj" fmla="val 1394"/>
            </a:avLst>
          </a:prstGeom>
          <a:solidFill>
            <a:srgbClr val="FDFE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02412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на 4 недели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73952" y="1261872"/>
            <a:ext cx="4773168" cy="676656"/>
          </a:xfrm>
          <a:prstGeom prst="roundRect">
            <a:avLst>
              <a:gd name="adj" fmla="val 1081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353312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Неделя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Зачем Kubernetes?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73952" y="2203704"/>
            <a:ext cx="4773168" cy="676656"/>
          </a:xfrm>
          <a:prstGeom prst="roundRect">
            <a:avLst>
              <a:gd name="adj" fmla="val 10811"/>
            </a:avLst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2295144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Неделя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Pod, Deployment, Service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73952" y="3145536"/>
            <a:ext cx="4773168" cy="676656"/>
          </a:xfrm>
          <a:prstGeom prst="roundRect">
            <a:avLst>
              <a:gd name="adj" fmla="val 10811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3236976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Неделя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ConfigMap, Secret, переменные окружения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73952" y="4087368"/>
            <a:ext cx="4773168" cy="676656"/>
          </a:xfrm>
          <a:prstGeom prst="roundRect">
            <a:avLst>
              <a:gd name="adj" fmla="val 10811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4178808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Неделя 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Ingress и роутинг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5413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фазы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3952" y="5632704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 понимает ключевые объекты Kubernetes, умеет читать YAML, раскладывать приложение на Pod/Deployment/Service и объяснять, как конфиг, ingress и TLS собираются в рабочий deployment flow.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Knowledge Sharing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Обзор фазы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идет от архитектурной картины к реальному publish-потоку приложения.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792224"/>
            <a:ext cx="1078992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792224"/>
            <a:ext cx="48463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5376" y="1938528"/>
            <a:ext cx="4590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322576"/>
            <a:ext cx="1078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323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2322576"/>
            <a:ext cx="4846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65376" y="2432304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Kubernetes? • Big picture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78992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2889504"/>
            <a:ext cx="48463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2999232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Pod, Deployment, Service • Базовые workload-объекты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3456432"/>
            <a:ext cx="10789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5661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37360" y="3456432"/>
            <a:ext cx="4846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65376" y="3566160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ConfigMap, Secret, переменные окружения • Конфигурация приложения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4023360"/>
            <a:ext cx="1078992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13308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37360" y="4023360"/>
            <a:ext cx="48463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376" y="4133088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и роутинг • Доступ к приложениям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94576" y="1792224"/>
            <a:ext cx="4645152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95744" y="1938528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прогрессии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2212848"/>
            <a:ext cx="41330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4" dirty="0">
                <a:solidFill>
                  <a:srgbClr val="1E293B"/>
                </a:solidFill>
              </a:rPr>
              <a:t>1. Сначала создаем общую карту: cluster, node, control plane, desired state.</a:t>
            </a:r>
            <a:endParaRPr lang="en-US" sz="1344" dirty="0"/>
          </a:p>
          <a:p>
            <a:pPr indent="0" marL="0">
              <a:buNone/>
            </a:pPr>
            <a:r>
              <a:rPr lang="en-US" sz="1344" dirty="0">
                <a:solidFill>
                  <a:srgbClr val="1E293B"/>
                </a:solidFill>
              </a:rPr>
              <a:t>2. Потом спускаемся к ежедневной работе: Pod, Deployment, Service.</a:t>
            </a:r>
            <a:endParaRPr lang="en-US" sz="1344" dirty="0"/>
          </a:p>
          <a:p>
            <a:pPr indent="0" marL="0">
              <a:buNone/>
            </a:pPr>
            <a:r>
              <a:rPr lang="en-US" sz="1344" dirty="0">
                <a:solidFill>
                  <a:srgbClr val="1E293B"/>
                </a:solidFill>
              </a:rPr>
              <a:t>3. Дальше учимся отделять конфиг и секреты от образа приложения.</a:t>
            </a:r>
            <a:endParaRPr lang="en-US" sz="1344" dirty="0"/>
          </a:p>
          <a:p>
            <a:pPr indent="0" marL="0">
              <a:buNone/>
            </a:pPr>
            <a:r>
              <a:rPr lang="en-US" sz="1344" dirty="0">
                <a:solidFill>
                  <a:srgbClr val="1E293B"/>
                </a:solidFill>
              </a:rPr>
              <a:t>4. В конце открываем сервис наружу через Ingress и TLS.</a:t>
            </a:r>
            <a:endParaRPr lang="en-US" sz="1344" dirty="0"/>
          </a:p>
        </p:txBody>
      </p:sp>
      <p:sp>
        <p:nvSpPr>
          <p:cNvPr id="29" name="Shape 27"/>
          <p:cNvSpPr/>
          <p:nvPr/>
        </p:nvSpPr>
        <p:spPr>
          <a:xfrm>
            <a:off x="658368" y="5138928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5285232"/>
            <a:ext cx="10479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" y="5559552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неделя состоит из короткой теории, живого разбора через `kubectl`, практики на локальном кластере и домашнего задания, которое готовит к следующей теме.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6455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фазы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Зачем Kubernetes?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249424"/>
            <a:ext cx="2944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Понять, какую операционную боль Kubernetes закрывает у команды.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Разобрать базовую модель: control plane, worker nodes, desired state.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Связать кластерные абстракции с привычной разработкой и деплоем.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913632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5993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4352544"/>
            <a:ext cx="29443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Почему просто Docker уже недостаточен на масштабе нескольких сервисов.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Как Kubernetes управляет размещением, самоисцелением и rollout'ами.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Что такое кластер и нода, кто за что отвечает внутри платформы.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810512"/>
            <a:ext cx="3785616" cy="2377440"/>
          </a:xfrm>
          <a:prstGeom prst="roundRect">
            <a:avLst>
              <a:gd name="adj" fmla="val 3077"/>
            </a:avLst>
          </a:prstGeom>
          <a:solidFill>
            <a:srgbClr val="FDFE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956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темы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2249424"/>
            <a:ext cx="33101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495" dirty="0">
                <a:solidFill>
                  <a:srgbClr val="1E293B"/>
                </a:solidFill>
              </a:rPr>
              <a:t>desired state и reconciliation loop</a:t>
            </a:r>
            <a:endParaRPr lang="en-US" sz="1495" dirty="0"/>
          </a:p>
          <a:p>
            <a:pPr marL="190500" indent="-190500">
              <a:buSzPct val="100000"/>
              <a:buChar char="•"/>
            </a:pPr>
            <a:r>
              <a:rPr lang="en-US" sz="1495" dirty="0">
                <a:solidFill>
                  <a:srgbClr val="1E293B"/>
                </a:solidFill>
              </a:rPr>
              <a:t>control plane vs worker nodes</a:t>
            </a:r>
            <a:endParaRPr lang="en-US" sz="1495" dirty="0"/>
          </a:p>
          <a:p>
            <a:pPr marL="190500" indent="-190500">
              <a:buSzPct val="100000"/>
              <a:buChar char="•"/>
            </a:pPr>
            <a:r>
              <a:rPr lang="en-US" sz="1495" dirty="0">
                <a:solidFill>
                  <a:srgbClr val="1E293B"/>
                </a:solidFill>
              </a:rPr>
              <a:t>scheduler, kubelet, kube-proxy</a:t>
            </a:r>
            <a:endParaRPr lang="en-US" sz="1495" dirty="0"/>
          </a:p>
        </p:txBody>
      </p:sp>
      <p:sp>
        <p:nvSpPr>
          <p:cNvPr id="15" name="Shape 13"/>
          <p:cNvSpPr/>
          <p:nvPr/>
        </p:nvSpPr>
        <p:spPr>
          <a:xfrm>
            <a:off x="4315968" y="4462272"/>
            <a:ext cx="3785616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460857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Живое демо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488289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Поднять локальный кластер и посмотреть `kubectl get nodes`.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Разобрать namespace, pod list и события через `kubectl describe`.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810512"/>
            <a:ext cx="3218688" cy="38404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1956816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58784" y="224942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Установить `kind` или `minikube` на ноутбук.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Подготовить объяснение: чем кластер отличается от одной VM с Docker.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58784" y="3566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кластер и нода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6592" y="3730752"/>
            <a:ext cx="2694432" cy="1554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8368" y="6455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Pod, Deployment, Service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Базовые workload-объекты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249424"/>
            <a:ext cx="2944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Понять жизненный цикл Pod и почему с Pod напрямую почти не работают.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Разобрать Deployment как декларативный способ управлять репликами.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Связать Service с сетевой стабильностью и service discovery.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913632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5993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4352544"/>
            <a:ext cx="29443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33" dirty="0">
                <a:solidFill>
                  <a:srgbClr val="1E293B"/>
                </a:solidFill>
              </a:rPr>
              <a:t>Pod как минимальная deployable unit.</a:t>
            </a:r>
            <a:endParaRPr lang="en-US" sz="1133" dirty="0"/>
          </a:p>
          <a:p>
            <a:pPr marL="190500" indent="-190500">
              <a:buSzPct val="100000"/>
              <a:buChar char="•"/>
            </a:pPr>
            <a:r>
              <a:rPr lang="en-US" sz="1133" dirty="0">
                <a:solidFill>
                  <a:srgbClr val="1E293B"/>
                </a:solidFill>
              </a:rPr>
              <a:t>Deployment, ReplicaSet, rollout и rollback.</a:t>
            </a:r>
            <a:endParaRPr lang="en-US" sz="1133" dirty="0"/>
          </a:p>
          <a:p>
            <a:pPr marL="190500" indent="-190500">
              <a:buSzPct val="100000"/>
              <a:buChar char="•"/>
            </a:pPr>
            <a:r>
              <a:rPr lang="en-US" sz="1133" dirty="0">
                <a:solidFill>
                  <a:srgbClr val="1E293B"/>
                </a:solidFill>
              </a:rPr>
              <a:t>ClusterIP, NodePort и headless service на уровне решения задач.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4315968" y="1810512"/>
            <a:ext cx="3785616" cy="2377440"/>
          </a:xfrm>
          <a:prstGeom prst="roundRect">
            <a:avLst>
              <a:gd name="adj" fmla="val 3077"/>
            </a:avLst>
          </a:prstGeom>
          <a:solidFill>
            <a:srgbClr val="FDFE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956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важно запомнить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2249424"/>
            <a:ext cx="33101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66" dirty="0">
                <a:solidFill>
                  <a:srgbClr val="1E293B"/>
                </a:solidFill>
              </a:rPr>
              <a:t>Pod эфемерен, Deployment описывает желаемое состояние</a:t>
            </a:r>
            <a:endParaRPr lang="en-US" sz="1266" dirty="0"/>
          </a:p>
          <a:p>
            <a:pPr marL="190500" indent="-190500">
              <a:buSzPct val="100000"/>
              <a:buChar char="•"/>
            </a:pPr>
            <a:r>
              <a:rPr lang="en-US" sz="1266" dirty="0">
                <a:solidFill>
                  <a:srgbClr val="1E293B"/>
                </a:solidFill>
              </a:rPr>
              <a:t>Service дает стабильный DNS и виртуальный IP</a:t>
            </a:r>
            <a:endParaRPr lang="en-US" sz="1266" dirty="0"/>
          </a:p>
          <a:p>
            <a:pPr marL="190500" indent="-190500">
              <a:buSzPct val="100000"/>
              <a:buChar char="•"/>
            </a:pPr>
            <a:r>
              <a:rPr lang="en-US" sz="1266" dirty="0">
                <a:solidFill>
                  <a:srgbClr val="1E293B"/>
                </a:solidFill>
              </a:rPr>
              <a:t>labels и selectors склеивают все объекты между собой</a:t>
            </a:r>
            <a:endParaRPr lang="en-US" sz="1266" dirty="0"/>
          </a:p>
        </p:txBody>
      </p:sp>
      <p:sp>
        <p:nvSpPr>
          <p:cNvPr id="15" name="Shape 13"/>
          <p:cNvSpPr/>
          <p:nvPr/>
        </p:nvSpPr>
        <p:spPr>
          <a:xfrm>
            <a:off x="4315968" y="4462272"/>
            <a:ext cx="3785616" cy="1188720"/>
          </a:xfrm>
          <a:prstGeom prst="roundRect">
            <a:avLst>
              <a:gd name="adj" fmla="val 6154"/>
            </a:avLst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460857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488289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Задеплоить `nginx` через Deployment.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Открыть приложение через Service и масштабировать реплики.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810512"/>
            <a:ext cx="3218688" cy="38404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1956816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58784" y="224942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Написать YAML для Pod, Deployment и Service.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Потренировать rollout restart и rollback на локальном стенде.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58784" y="3566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объектов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58784" y="38587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Pod &lt;- Deployment -&gt; Service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85632" y="4334256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labels/selectors связывают Service с репликами Pod, а Deployment следит за количеством и rollout'ом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6455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ConfigMap, Secret, переменные окружения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 приложения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249424"/>
            <a:ext cx="2944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Отделить код приложения от конфигурации окружения.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Понять различия между ConfigMap и Secret.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Выбрать подходящее подключение конфигов в runtime.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913632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5993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4352544"/>
            <a:ext cx="29443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ConfigMap для обычной конфигурации и feature flags.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Secret для чувствительных данных и ограничений его безопасности.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Env vars, volume mounts и `envFrom` как основные способы передачи.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810512"/>
            <a:ext cx="3785616" cy="2377440"/>
          </a:xfrm>
          <a:prstGeom prst="roundRect">
            <a:avLst>
              <a:gd name="adj" fmla="val 3077"/>
            </a:avLst>
          </a:prstGeom>
          <a:solidFill>
            <a:srgbClr val="FDFE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956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Способы монтирования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2249424"/>
            <a:ext cx="33101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495" dirty="0">
                <a:solidFill>
                  <a:srgbClr val="1E293B"/>
                </a:solidFill>
              </a:rPr>
              <a:t>одна переменная через `valueFrom`</a:t>
            </a:r>
            <a:endParaRPr lang="en-US" sz="1495" dirty="0"/>
          </a:p>
          <a:p>
            <a:pPr marL="190500" indent="-190500">
              <a:buSzPct val="100000"/>
              <a:buChar char="•"/>
            </a:pPr>
            <a:r>
              <a:rPr lang="en-US" sz="1495" dirty="0">
                <a:solidFill>
                  <a:srgbClr val="1E293B"/>
                </a:solidFill>
              </a:rPr>
              <a:t>массовый импорт через `envFrom`</a:t>
            </a:r>
            <a:endParaRPr lang="en-US" sz="1495" dirty="0"/>
          </a:p>
          <a:p>
            <a:pPr marL="190500" indent="-190500">
              <a:buSzPct val="100000"/>
              <a:buChar char="•"/>
            </a:pPr>
            <a:r>
              <a:rPr lang="en-US" sz="1495" dirty="0">
                <a:solidFill>
                  <a:srgbClr val="1E293B"/>
                </a:solidFill>
              </a:rPr>
              <a:t>файлы в volume для конфигов и сертификатов</a:t>
            </a:r>
            <a:endParaRPr lang="en-US" sz="1495" dirty="0"/>
          </a:p>
        </p:txBody>
      </p:sp>
      <p:sp>
        <p:nvSpPr>
          <p:cNvPr id="15" name="Shape 13"/>
          <p:cNvSpPr/>
          <p:nvPr/>
        </p:nvSpPr>
        <p:spPr>
          <a:xfrm>
            <a:off x="4315968" y="4462272"/>
            <a:ext cx="3785616" cy="1188720"/>
          </a:xfrm>
          <a:prstGeom prst="roundRect">
            <a:avLst>
              <a:gd name="adj" fmla="val 6154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460857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488289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Подключить `.env`-подобную конфигурацию к демо-приложению.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Смонтировать Secret как файл и проверить его в контейнере.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810512"/>
            <a:ext cx="3218688" cy="38404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1956816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58784" y="224942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Вынести настройки тестового сервиса в ConfigMap.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Подготовить Secret и объяснить, где он все еще уязвим.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58784" y="3566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недели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85632" y="3877056"/>
            <a:ext cx="28529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 контейнера остается неизменным, а среда исполнения меняется через ConfigMap и Secret.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Ingress и роутинг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приложениям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249424"/>
            <a:ext cx="2944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Понять место Ingress Controller между сервисами и внешним трафиком.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Разобрать routing по host и path.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Собрать минимальную картину по TLS и сертификатам.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913632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5993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4352544"/>
            <a:ext cx="29443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Ingress как API-объект и Controller как реальный исполнитель.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Host-based и path-based routing на боевых сценариях.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TLS termination, cert-manager и когда нужен отдельный gateway.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810512"/>
            <a:ext cx="3785616" cy="2377440"/>
          </a:xfrm>
          <a:prstGeom prst="roundRect">
            <a:avLst>
              <a:gd name="adj" fmla="val 3077"/>
            </a:avLst>
          </a:prstGeom>
          <a:solidFill>
            <a:srgbClr val="FDFE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956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фазы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2249424"/>
            <a:ext cx="33101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66" dirty="0">
                <a:solidFill>
                  <a:srgbClr val="1E293B"/>
                </a:solidFill>
              </a:rPr>
              <a:t>умеем задеплоить сервис, прокинуть конфиг и открыть его наружу</a:t>
            </a:r>
            <a:endParaRPr lang="en-US" sz="1266" dirty="0"/>
          </a:p>
          <a:p>
            <a:pPr marL="190500" indent="-190500">
              <a:buSzPct val="100000"/>
              <a:buChar char="•"/>
            </a:pPr>
            <a:r>
              <a:rPr lang="en-US" sz="1266" dirty="0">
                <a:solidFill>
                  <a:srgbClr val="1E293B"/>
                </a:solidFill>
              </a:rPr>
              <a:t>понимаем базовый operational flow: build -&gt; deploy -&gt; expose</a:t>
            </a:r>
            <a:endParaRPr lang="en-US" sz="1266" dirty="0"/>
          </a:p>
          <a:p>
            <a:pPr marL="190500" indent="-190500">
              <a:buSzPct val="100000"/>
              <a:buChar char="•"/>
            </a:pPr>
            <a:r>
              <a:rPr lang="en-US" sz="1266" dirty="0">
                <a:solidFill>
                  <a:srgbClr val="1E293B"/>
                </a:solidFill>
              </a:rPr>
              <a:t>готовы перейти к трекам по стекам команды</a:t>
            </a:r>
            <a:endParaRPr lang="en-US" sz="1266" dirty="0"/>
          </a:p>
        </p:txBody>
      </p:sp>
      <p:sp>
        <p:nvSpPr>
          <p:cNvPr id="15" name="Shape 13"/>
          <p:cNvSpPr/>
          <p:nvPr/>
        </p:nvSpPr>
        <p:spPr>
          <a:xfrm>
            <a:off x="4315968" y="4462272"/>
            <a:ext cx="3785616" cy="1188720"/>
          </a:xfrm>
          <a:prstGeom prst="roundRect">
            <a:avLst>
              <a:gd name="adj" fmla="val 6154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460857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488289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Настроить ingress правило для двух путей одного домена.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Подключить self-signed TLS и проверить заголовки/маршрутизацию.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810512"/>
            <a:ext cx="3218688" cy="38404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1956816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58784" y="224942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Собрать ingress для своего демо-сервиса.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Подготовить вопросы по сетевой модели перед фазой 2.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58784" y="3566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flow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30768" y="3775769"/>
            <a:ext cx="2926080" cy="151931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8368" y="6455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Подготовка к фазе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общей базы команда расходится по трекам, но говорит на одном языке Kubernetes.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2048256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2024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06624" y="1773936"/>
            <a:ext cx="4517136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920240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недели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304288"/>
            <a:ext cx="204825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14016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/ Laravel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06624" y="2304288"/>
            <a:ext cx="45171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414016"/>
            <a:ext cx="4261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Dockerfile, Queue Workers, Kafka-консьюмеры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2999232"/>
            <a:ext cx="2048256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10896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Spring Boot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06624" y="2999232"/>
            <a:ext cx="4517136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108960"/>
            <a:ext cx="4261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в контейнере, liveness/readiness probes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3694176"/>
            <a:ext cx="204825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80390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06624" y="3694176"/>
            <a:ext cx="45171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803904"/>
            <a:ext cx="4261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build, env во время сборки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773936"/>
            <a:ext cx="404164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9248" y="19202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должно остаться после фазы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17536" y="2231136"/>
            <a:ext cx="35661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48" dirty="0">
                <a:solidFill>
                  <a:srgbClr val="1E293B"/>
                </a:solidFill>
              </a:rPr>
              <a:t>Уверенно читать базовые манифесты Kubernetes.</a:t>
            </a:r>
            <a:endParaRPr lang="en-US" sz="1348" dirty="0"/>
          </a:p>
          <a:p>
            <a:pPr marL="190500" indent="-190500">
              <a:buSzPct val="100000"/>
              <a:buChar char="•"/>
            </a:pPr>
            <a:r>
              <a:rPr lang="en-US" sz="1348" dirty="0">
                <a:solidFill>
                  <a:srgbClr val="1E293B"/>
                </a:solidFill>
              </a:rPr>
              <a:t>Отличать runtime-конфиг от контейнерного образа.</a:t>
            </a:r>
            <a:endParaRPr lang="en-US" sz="1348" dirty="0"/>
          </a:p>
          <a:p>
            <a:pPr marL="190500" indent="-190500">
              <a:buSzPct val="100000"/>
              <a:buChar char="•"/>
            </a:pPr>
            <a:r>
              <a:rPr lang="en-US" sz="1348" dirty="0">
                <a:solidFill>
                  <a:srgbClr val="1E293B"/>
                </a:solidFill>
              </a:rPr>
              <a:t>Понимать путь внешнего запроса до Pod.</a:t>
            </a:r>
            <a:endParaRPr lang="en-US" sz="1348" dirty="0"/>
          </a:p>
          <a:p>
            <a:pPr marL="190500" indent="-190500">
              <a:buSzPct val="100000"/>
              <a:buChar char="•"/>
            </a:pPr>
            <a:r>
              <a:rPr lang="en-US" sz="1348" dirty="0">
                <a:solidFill>
                  <a:srgbClr val="1E293B"/>
                </a:solidFill>
              </a:rPr>
              <a:t>Иметь локальный кластер для безопасных экспериментов.</a:t>
            </a:r>
            <a:endParaRPr lang="en-US" sz="1348" dirty="0"/>
          </a:p>
        </p:txBody>
      </p:sp>
      <p:sp>
        <p:nvSpPr>
          <p:cNvPr id="25" name="Shape 23"/>
          <p:cNvSpPr/>
          <p:nvPr/>
        </p:nvSpPr>
        <p:spPr>
          <a:xfrm>
            <a:off x="658368" y="4882896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029200"/>
            <a:ext cx="10479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5340096"/>
            <a:ext cx="10277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D4ED8"/>
                </a:solidFill>
                <a:uFill>
                  <a:solidFill>
                    <a:srgbClr val="1D4ED8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Неделя 1 — Зачем Kubernetes?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— ссылка на базовый конспект и стартовую домашнюю подготовку.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6455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к фазе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CashFlow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Knowledge Sharing — Фаза 1: Основы</dc:title>
  <dc:subject>Kubernetes Knowledge Sharing</dc:subject>
  <dc:creator>OpenAI Codex</dc:creator>
  <cp:lastModifiedBy>OpenAI Codex</cp:lastModifiedBy>
  <cp:revision>1</cp:revision>
  <dcterms:created xsi:type="dcterms:W3CDTF">2026-03-20T10:43:38Z</dcterms:created>
  <dcterms:modified xsi:type="dcterms:W3CDTF">2026-03-20T10:43:38Z</dcterms:modified>
</cp:coreProperties>
</file>